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80" r:id="rId3"/>
    <p:sldId id="257" r:id="rId4"/>
    <p:sldId id="259" r:id="rId5"/>
    <p:sldId id="276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75" r:id="rId14"/>
    <p:sldId id="288" r:id="rId15"/>
    <p:sldId id="289" r:id="rId16"/>
    <p:sldId id="290" r:id="rId17"/>
    <p:sldId id="2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643" autoAdjust="0"/>
  </p:normalViewPr>
  <p:slideViewPr>
    <p:cSldViewPr snapToGrid="0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52794-426B-4CFD-93E8-2F57D85B1E7D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5A1EB-068C-4CCE-9250-644890AA46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53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9159A-E53C-1A80-ECAE-D6CBE4264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575B6-7FE7-AB13-6D8F-F65AF1450B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65517-FA8F-4641-07FE-ADD73D5B3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9516-EA0D-451A-A3E8-BD810D470C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23515-424A-5D07-C991-F7C4287D9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C0646-5E61-6788-8208-AB4162F1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2D7C8-3A73-471A-AEF7-AABD695F9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683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2E5E0-F1AA-53BF-3C0A-AFB2554F0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DB5A5-9B64-E7DB-292F-A911E79B9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0C6F87-16FC-23A7-1C8B-7BD31E0BF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9516-EA0D-451A-A3E8-BD810D470C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86F93-C0CF-28C3-F2E9-A50A9DC1F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7011D-9A1B-80D0-A69A-71B4EC463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2D7C8-3A73-471A-AEF7-AABD695F9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389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B4C3F-289D-6C1F-C7B7-2D477CB01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415304-821B-83F8-A7CB-76CEE51DE7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75C67-BA07-6370-6A31-A2B8DB47D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9516-EA0D-451A-A3E8-BD810D470C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E4E97-816D-955E-AA0B-30CFF557AA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944FF-4EBB-0D72-6B93-59B3882EC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2D7C8-3A73-471A-AEF7-AABD695F9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7472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E9FA4-314C-C913-F9D4-A7F36D008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90102-EB75-1795-E672-0B956B90A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2698-3FF8-A4A5-4805-698ACF39A8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65D83-E35B-6414-87F7-85E67C179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9516-EA0D-451A-A3E8-BD810D470C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15C30D-17F3-9527-404E-6287263AE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BA9496-FF45-ACCF-F344-DC8B2F5DD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2D7C8-3A73-471A-AEF7-AABD695F9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613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8116B-12E2-6988-58C0-E14FCE2AB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810DB7-7744-4565-4329-593D13BBD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A98E9-CE48-2E82-3913-A41724BDFC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3EBABE-227E-DAD3-B505-EFC53FBCBB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135178-F3A5-99A0-F04B-7722A4A049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939542-AD5B-36DD-DDC2-AF0C26B67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9516-EA0D-451A-A3E8-BD810D470C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83E9A0-AFCA-1B10-7F12-2CF36E112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AD0F46-DDFC-6529-5302-E04FBD350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2D7C8-3A73-471A-AEF7-AABD695F9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455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BBEED-2490-B622-2CCA-A73CF5697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14B77F-95FD-6400-1021-B3EDB9879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9516-EA0D-451A-A3E8-BD810D470C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0B21B3-C702-1BD2-3389-CCA83267E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5A882F-0FDF-7E93-438D-3DD985FB4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2D7C8-3A73-471A-AEF7-AABD695F9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3791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CD5496-942E-758E-C968-09E42C895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9516-EA0D-451A-A3E8-BD810D470C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5D5E5-C87F-A003-0793-41E53F0C5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4C688-0709-0566-7D7A-4800EF1E1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2D7C8-3A73-471A-AEF7-AABD695F9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560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D5D01-670F-78C4-5209-1A5C5AA77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F6A6F-74A4-6764-9B72-2138B4AD8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FE2DE-D0F9-A90E-AECB-F7992F055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69652-5402-2D15-9D30-3FFF467A2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9516-EA0D-451A-A3E8-BD810D470C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2D6969-75B0-CA60-C15B-2151825A6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C7D695-55BF-B2B5-952A-61365FB15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2D7C8-3A73-471A-AEF7-AABD695F9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929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513D-FB0F-4760-697C-E13C4A028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5B474F-C240-8441-63EC-70A348D4F5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748189-0B2E-6821-8020-68A113C67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F9800-AA3D-E7B2-F90E-B65061769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9516-EA0D-451A-A3E8-BD810D470C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7760F0-5424-A4B5-B253-A632AC267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C07D3-E5A3-E8DF-B952-CC365863A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2D7C8-3A73-471A-AEF7-AABD695F9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9001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6EEFA-2A16-38B1-E830-5104ABB161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E5AA67-0F42-0EE9-23AA-31710525C6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82D75-B022-C7C4-7FCB-D5D9F8799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9516-EA0D-451A-A3E8-BD810D470C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F9AB-296D-48A1-A153-505FDB457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F2EB0-733E-1897-1A8C-C1D482672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2D7C8-3A73-471A-AEF7-AABD695F9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073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2B7302-8185-F2E0-C276-FDA1AAF354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DBECB-2983-1CB4-0514-A773EEFCEC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30B38-1014-0C78-0581-2365E164A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F9516-EA0D-451A-A3E8-BD810D470C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959E0-B730-5A8A-2417-EF63CBF12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96E8F-20A3-AE84-DF94-D691B029F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52D7C8-3A73-471A-AEF7-AABD695F9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413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3E02E52-15A0-1069-9A21-74C0B1E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84933-4445-024A-6372-55B50804E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68527-6CBB-991F-1F39-E705D32B01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3F9516-EA0D-451A-A3E8-BD810D470CF0}" type="datetimeFigureOut">
              <a:rPr lang="en-IN" smtClean="0"/>
              <a:t>27-11-2025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EEB76-7CB0-A01B-0A6F-8F2B1A67D1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595EF2-D508-5310-40A8-88C4254E7E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52D7C8-3A73-471A-AEF7-AABD695F9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218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ngimg.com/png/19306-thank-you-free-download-png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CBAF6-FDB2-DCD2-BCC6-353514859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070154"/>
          </a:xfrm>
        </p:spPr>
        <p:txBody>
          <a:bodyPr>
            <a:normAutofit/>
          </a:bodyPr>
          <a:lstStyle/>
          <a:p>
            <a:r>
              <a:rPr lang="en-IN" dirty="0"/>
              <a:t>Speaker </a:t>
            </a:r>
            <a:r>
              <a:rPr lang="en-IN" dirty="0" err="1"/>
              <a:t>Diarization</a:t>
            </a:r>
            <a:r>
              <a:rPr lang="en-IN" dirty="0"/>
              <a:t>(BTP1)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174B8-62BD-F602-A838-5DAA7F4E017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Abhimanyu Kumar</a:t>
            </a:r>
          </a:p>
          <a:p>
            <a:r>
              <a:rPr lang="en-IN" dirty="0"/>
              <a:t>22B1257</a:t>
            </a:r>
          </a:p>
          <a:p>
            <a:r>
              <a:rPr lang="en-IN" dirty="0"/>
              <a:t>Guide: Prof. Preeti Rao</a:t>
            </a:r>
          </a:p>
        </p:txBody>
      </p:sp>
    </p:spTree>
    <p:extLst>
      <p:ext uri="{BB962C8B-B14F-4D97-AF65-F5344CB8AC3E}">
        <p14:creationId xmlns:p14="http://schemas.microsoft.com/office/powerpoint/2010/main" val="839296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3ED65-4FAF-0D94-3FC2-0AA390998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1A48F-F9B1-FD36-DCC0-E8378620F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Introduction </a:t>
            </a:r>
          </a:p>
          <a:p>
            <a:r>
              <a:rPr lang="en-IN" dirty="0"/>
              <a:t>Dataset Description</a:t>
            </a:r>
          </a:p>
          <a:p>
            <a:r>
              <a:rPr lang="en-IN" dirty="0"/>
              <a:t>Methodology Overview</a:t>
            </a:r>
          </a:p>
          <a:p>
            <a:r>
              <a:rPr lang="en-IN" dirty="0"/>
              <a:t>Preprocessing &amp; Voice Activity Detection</a:t>
            </a:r>
          </a:p>
          <a:p>
            <a:r>
              <a:rPr lang="en-IN" dirty="0"/>
              <a:t>Speaker Change Detection (LSTM)</a:t>
            </a:r>
          </a:p>
          <a:p>
            <a:r>
              <a:rPr lang="en-IN" dirty="0"/>
              <a:t>Embedding Extraction (</a:t>
            </a:r>
            <a:r>
              <a:rPr lang="en-IN" dirty="0" err="1"/>
              <a:t>pyannote.audio</a:t>
            </a:r>
            <a:r>
              <a:rPr lang="en-IN" dirty="0"/>
              <a:t>)</a:t>
            </a:r>
          </a:p>
          <a:p>
            <a:r>
              <a:rPr lang="en-IN" dirty="0"/>
              <a:t>Clustering Algorithms</a:t>
            </a:r>
          </a:p>
          <a:p>
            <a:r>
              <a:rPr lang="en-IN" dirty="0"/>
              <a:t>Experimental Results &amp; Comparison</a:t>
            </a:r>
          </a:p>
          <a:p>
            <a:r>
              <a:rPr lang="en-IN" dirty="0"/>
              <a:t>Challenges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84588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A1E5A-A297-3C5C-351E-77B89A042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587ED6-C476-62BB-C9F3-A382185D7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3189"/>
          </a:xfrm>
        </p:spPr>
        <p:txBody>
          <a:bodyPr/>
          <a:lstStyle/>
          <a:p>
            <a:r>
              <a:rPr lang="en-US" dirty="0"/>
              <a:t>Speaker </a:t>
            </a:r>
            <a:r>
              <a:rPr lang="en-US" dirty="0" err="1"/>
              <a:t>diarization</a:t>
            </a:r>
            <a:r>
              <a:rPr lang="en-US" dirty="0"/>
              <a:t> : The task of answering </a:t>
            </a:r>
            <a:r>
              <a:rPr lang="en-US" b="1" dirty="0"/>
              <a:t>“who spoke when”</a:t>
            </a:r>
            <a:r>
              <a:rPr lang="en-US" dirty="0"/>
              <a:t> in an audio recording.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EE0E18-6654-881F-208F-7230BDF00F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3561" y="2726074"/>
            <a:ext cx="6399124" cy="17779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1636607-6061-6FC8-2AA2-ADEFBC1146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500" y="4501399"/>
            <a:ext cx="7315834" cy="18060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F012A54-5D31-093A-985B-621761F428E0}"/>
              </a:ext>
            </a:extLst>
          </p:cNvPr>
          <p:cNvSpPr txBox="1"/>
          <p:nvPr/>
        </p:nvSpPr>
        <p:spPr>
          <a:xfrm>
            <a:off x="3484179" y="6307496"/>
            <a:ext cx="2800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Speaker </a:t>
            </a:r>
            <a:r>
              <a:rPr lang="en-IN" dirty="0" err="1"/>
              <a:t>Diarization</a:t>
            </a:r>
            <a:r>
              <a:rPr lang="en-IN" dirty="0"/>
              <a:t> pipeline</a:t>
            </a:r>
          </a:p>
        </p:txBody>
      </p:sp>
    </p:spTree>
    <p:extLst>
      <p:ext uri="{BB962C8B-B14F-4D97-AF65-F5344CB8AC3E}">
        <p14:creationId xmlns:p14="http://schemas.microsoft.com/office/powerpoint/2010/main" val="3368260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FBD4-5152-CBF1-D4CB-BEF2C225C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604F70-A4B7-25A1-1F20-7705F0FAB2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dirty="0"/>
              <a:t>Dataset: audio6min.wav</a:t>
            </a:r>
          </a:p>
          <a:p>
            <a:pPr algn="just"/>
            <a:endParaRPr lang="en-IN" sz="28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29D957F-39ED-11AF-97DA-243B61EDE94A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2614454"/>
          <a:ext cx="10515600" cy="27736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58377149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789403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Property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Value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17545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Duration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6 minutes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8330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Number of Speakers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3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5137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Sampling Rate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16 kHz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76468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Format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WAV (Mono)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2704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Annotation Format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RTTM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3912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Prepared Using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Audacity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0897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411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AC111D-9FF3-492C-F9EF-57E2E737E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51818-6000-8FCF-3F8E-5D077CC5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SYSTEM ARCHITECTURE / PIPELINE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5FEB1-1A0E-BB9A-76FE-F1212351F8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892"/>
            <a:ext cx="10515600" cy="4606071"/>
          </a:xfrm>
        </p:spPr>
        <p:txBody>
          <a:bodyPr>
            <a:normAutofit fontScale="92500" lnSpcReduction="10000"/>
          </a:bodyPr>
          <a:lstStyle/>
          <a:p>
            <a:pPr marL="457200" lvl="1" indent="0">
              <a:buNone/>
            </a:pPr>
            <a:r>
              <a:rPr lang="en-US" dirty="0"/>
              <a:t>Audio Input</a:t>
            </a:r>
          </a:p>
          <a:p>
            <a:pPr marL="457200" lvl="1" indent="0">
              <a:buNone/>
            </a:pPr>
            <a:r>
              <a:rPr lang="en-US" dirty="0"/>
              <a:t>    ↓</a:t>
            </a:r>
          </a:p>
          <a:p>
            <a:pPr marL="457200" lvl="1" indent="0">
              <a:buNone/>
            </a:pPr>
            <a:r>
              <a:rPr lang="en-US" dirty="0"/>
              <a:t>[Preprocessing] → Stereo to Mono, Resample to 16kHz</a:t>
            </a:r>
          </a:p>
          <a:p>
            <a:pPr marL="457200" lvl="1" indent="0">
              <a:buNone/>
            </a:pPr>
            <a:r>
              <a:rPr lang="en-US" dirty="0"/>
              <a:t>    ↓</a:t>
            </a:r>
          </a:p>
          <a:p>
            <a:pPr marL="457200" lvl="1" indent="0">
              <a:buNone/>
            </a:pPr>
            <a:r>
              <a:rPr lang="en-US" dirty="0"/>
              <a:t>[Voice Activity Detection] → WebRTC VAD</a:t>
            </a:r>
          </a:p>
          <a:p>
            <a:pPr marL="457200" lvl="1" indent="0">
              <a:buNone/>
            </a:pPr>
            <a:r>
              <a:rPr lang="en-US" dirty="0"/>
              <a:t>    ↓</a:t>
            </a:r>
          </a:p>
          <a:p>
            <a:pPr marL="457200" lvl="1" indent="0">
              <a:buNone/>
            </a:pPr>
            <a:r>
              <a:rPr lang="en-US" dirty="0"/>
              <a:t>[Speaker Change Detection] → Bidirectional LSTM</a:t>
            </a:r>
          </a:p>
          <a:p>
            <a:pPr marL="457200" lvl="1" indent="0">
              <a:buNone/>
            </a:pPr>
            <a:r>
              <a:rPr lang="en-US" dirty="0"/>
              <a:t>    ↓</a:t>
            </a:r>
          </a:p>
          <a:p>
            <a:pPr marL="457200" lvl="1" indent="0">
              <a:buNone/>
            </a:pPr>
            <a:r>
              <a:rPr lang="en-US" dirty="0"/>
              <a:t>[Embedding Extraction] → </a:t>
            </a:r>
            <a:r>
              <a:rPr lang="en-US" dirty="0" err="1"/>
              <a:t>pyannote.audio</a:t>
            </a:r>
            <a:r>
              <a:rPr lang="en-US" dirty="0"/>
              <a:t> (512-D)</a:t>
            </a:r>
          </a:p>
          <a:p>
            <a:pPr marL="457200" lvl="1" indent="0">
              <a:buNone/>
            </a:pPr>
            <a:r>
              <a:rPr lang="en-US" dirty="0"/>
              <a:t>    ↓</a:t>
            </a:r>
          </a:p>
          <a:p>
            <a:pPr marL="457200" lvl="1" indent="0">
              <a:buNone/>
            </a:pPr>
            <a:r>
              <a:rPr lang="en-US" dirty="0"/>
              <a:t>[Clustering] → Mean Shift / K-Means</a:t>
            </a:r>
          </a:p>
          <a:p>
            <a:pPr marL="457200" lvl="1" indent="0">
              <a:buNone/>
            </a:pPr>
            <a:r>
              <a:rPr lang="en-US" dirty="0"/>
              <a:t>    ↓</a:t>
            </a:r>
          </a:p>
          <a:p>
            <a:pPr marL="457200" lvl="1" indent="0">
              <a:buNone/>
            </a:pPr>
            <a:r>
              <a:rPr lang="en-US" dirty="0"/>
              <a:t>[RTTM Output] → Evaluation (DER)</a:t>
            </a:r>
          </a:p>
        </p:txBody>
      </p:sp>
    </p:spTree>
    <p:extLst>
      <p:ext uri="{BB962C8B-B14F-4D97-AF65-F5344CB8AC3E}">
        <p14:creationId xmlns:p14="http://schemas.microsoft.com/office/powerpoint/2010/main" val="3365973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DDA6B-4BD5-F2D8-D7A8-29D18409D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PREPROCESSING &amp; VAD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7B43C-847B-F4FB-CBDB-54630C29C8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1046"/>
            <a:ext cx="10515600" cy="5035917"/>
          </a:xfrm>
        </p:spPr>
        <p:txBody>
          <a:bodyPr>
            <a:normAutofit/>
          </a:bodyPr>
          <a:lstStyle/>
          <a:p>
            <a:r>
              <a:rPr lang="en-IN" dirty="0"/>
              <a:t>Preprocessing Steps:</a:t>
            </a:r>
          </a:p>
          <a:p>
            <a:pPr lvl="1"/>
            <a:r>
              <a:rPr lang="en-IN" dirty="0"/>
              <a:t>Stereo → Mono conversion using </a:t>
            </a:r>
            <a:r>
              <a:rPr lang="en-IN" dirty="0" err="1"/>
              <a:t>pydub</a:t>
            </a:r>
            <a:endParaRPr lang="en-IN" dirty="0"/>
          </a:p>
          <a:p>
            <a:pPr lvl="1"/>
            <a:r>
              <a:rPr lang="en-IN" dirty="0"/>
              <a:t>Resampling to 16 kHz</a:t>
            </a:r>
          </a:p>
          <a:p>
            <a:pPr lvl="1"/>
            <a:r>
              <a:rPr lang="en-IN" dirty="0"/>
              <a:t>PCM conversion for VAD compatibility</a:t>
            </a:r>
          </a:p>
          <a:p>
            <a:r>
              <a:rPr lang="en-IN" dirty="0"/>
              <a:t>Voice Activity Detection:</a:t>
            </a:r>
          </a:p>
          <a:p>
            <a:pPr lvl="1"/>
            <a:r>
              <a:rPr lang="en-IN" dirty="0"/>
              <a:t>Tool: </a:t>
            </a:r>
            <a:r>
              <a:rPr lang="en-IN" dirty="0" err="1"/>
              <a:t>webrtcvad</a:t>
            </a:r>
            <a:r>
              <a:rPr lang="en-IN" dirty="0"/>
              <a:t> (WebRTC VAD)</a:t>
            </a:r>
          </a:p>
          <a:p>
            <a:pPr lvl="1"/>
            <a:r>
              <a:rPr lang="en-IN" dirty="0"/>
              <a:t>Output: NumPy array of time intervals where speech is detected</a:t>
            </a:r>
          </a:p>
          <a:p>
            <a:pPr lvl="1"/>
            <a:r>
              <a:rPr lang="en-IN" dirty="0"/>
              <a:t>Removes silence regions from audio</a:t>
            </a:r>
          </a:p>
          <a:p>
            <a:r>
              <a:rPr lang="en-IN" dirty="0"/>
              <a:t>python</a:t>
            </a:r>
          </a:p>
          <a:p>
            <a:pPr lvl="1"/>
            <a:r>
              <a:rPr lang="en-IN" dirty="0"/>
              <a:t>sound = </a:t>
            </a:r>
            <a:r>
              <a:rPr lang="en-IN" dirty="0" err="1"/>
              <a:t>AudioSegment.from_wav</a:t>
            </a:r>
            <a:r>
              <a:rPr lang="en-IN" dirty="0"/>
              <a:t>(</a:t>
            </a:r>
            <a:r>
              <a:rPr lang="en-IN" dirty="0" err="1"/>
              <a:t>stereo_audio_path</a:t>
            </a:r>
            <a:r>
              <a:rPr lang="en-IN" dirty="0"/>
              <a:t>)</a:t>
            </a:r>
          </a:p>
          <a:p>
            <a:pPr lvl="1"/>
            <a:r>
              <a:rPr lang="en-IN" dirty="0"/>
              <a:t>sound = </a:t>
            </a:r>
            <a:r>
              <a:rPr lang="en-IN" dirty="0" err="1"/>
              <a:t>sound.set_channels</a:t>
            </a:r>
            <a:r>
              <a:rPr lang="en-IN" dirty="0"/>
              <a:t>(1)</a:t>
            </a:r>
          </a:p>
          <a:p>
            <a:pPr lvl="1"/>
            <a:r>
              <a:rPr lang="en-IN" dirty="0"/>
              <a:t>sound = </a:t>
            </a:r>
            <a:r>
              <a:rPr lang="en-IN" dirty="0" err="1"/>
              <a:t>sound.set_frame_rate</a:t>
            </a:r>
            <a:r>
              <a:rPr lang="en-IN" dirty="0"/>
              <a:t>(16000)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62519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9EC2C-2ADA-A682-65A8-DC3BD03E0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SPEAKER CHANGE DETECTION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E7F547-3252-82F8-1E76-4578529F6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8523"/>
            <a:ext cx="10515600" cy="5098440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Feature Extraction:</a:t>
            </a:r>
          </a:p>
          <a:p>
            <a:pPr lvl="1"/>
            <a:r>
              <a:rPr lang="en-IN" dirty="0"/>
              <a:t>11 MFCC coefficients</a:t>
            </a:r>
          </a:p>
          <a:p>
            <a:pPr lvl="1"/>
            <a:r>
              <a:rPr lang="en-IN" dirty="0"/>
              <a:t>First-order derivatives (</a:t>
            </a:r>
            <a:r>
              <a:rPr lang="el-GR" dirty="0"/>
              <a:t>Δ)</a:t>
            </a:r>
          </a:p>
          <a:p>
            <a:pPr lvl="1"/>
            <a:r>
              <a:rPr lang="en-IN" dirty="0"/>
              <a:t>Second-order derivatives (</a:t>
            </a:r>
            <a:r>
              <a:rPr lang="el-GR" dirty="0"/>
              <a:t>ΔΔ)</a:t>
            </a:r>
          </a:p>
          <a:p>
            <a:pPr lvl="1"/>
            <a:r>
              <a:rPr lang="en-IN" dirty="0"/>
              <a:t>Total: 35-dimensional features per frame</a:t>
            </a:r>
          </a:p>
          <a:p>
            <a:pPr lvl="1"/>
            <a:r>
              <a:rPr lang="en-IN" dirty="0"/>
              <a:t>Normalization applied</a:t>
            </a:r>
          </a:p>
          <a:p>
            <a:r>
              <a:rPr lang="en-IN" dirty="0"/>
              <a:t>Model Architecture:</a:t>
            </a:r>
          </a:p>
          <a:p>
            <a:pPr lvl="1"/>
            <a:r>
              <a:rPr lang="en-IN" dirty="0"/>
              <a:t>Bidirectional LSTM (128 units)</a:t>
            </a:r>
          </a:p>
          <a:p>
            <a:pPr lvl="1"/>
            <a:r>
              <a:rPr lang="en-IN" dirty="0" err="1"/>
              <a:t>TimeDistributed</a:t>
            </a:r>
            <a:r>
              <a:rPr lang="en-IN" dirty="0"/>
              <a:t> Dense layer (32 units)</a:t>
            </a:r>
          </a:p>
          <a:p>
            <a:pPr lvl="1"/>
            <a:r>
              <a:rPr lang="en-IN" dirty="0"/>
              <a:t>Sigmoid output for frame-level probability</a:t>
            </a:r>
          </a:p>
          <a:p>
            <a:pPr lvl="1"/>
            <a:r>
              <a:rPr lang="en-IN" dirty="0"/>
              <a:t>Saved as: my_trained_model.h5</a:t>
            </a:r>
          </a:p>
          <a:p>
            <a:r>
              <a:rPr lang="en-IN" dirty="0"/>
              <a:t>python</a:t>
            </a:r>
          </a:p>
          <a:p>
            <a:pPr lvl="1"/>
            <a:r>
              <a:rPr lang="en-IN" dirty="0" err="1"/>
              <a:t>model.add</a:t>
            </a:r>
            <a:r>
              <a:rPr lang="en-IN" dirty="0"/>
              <a:t>(Bidirectional(LSTM(128, </a:t>
            </a:r>
            <a:r>
              <a:rPr lang="en-IN" dirty="0" err="1"/>
              <a:t>return_sequences</a:t>
            </a:r>
            <a:r>
              <a:rPr lang="en-IN" dirty="0"/>
              <a:t>=True)))</a:t>
            </a:r>
          </a:p>
          <a:p>
            <a:pPr lvl="1"/>
            <a:r>
              <a:rPr lang="en-IN" dirty="0" err="1"/>
              <a:t>model.add</a:t>
            </a:r>
            <a:r>
              <a:rPr lang="en-IN" dirty="0"/>
              <a:t>(</a:t>
            </a:r>
            <a:r>
              <a:rPr lang="en-IN" dirty="0" err="1"/>
              <a:t>TimeDistributed</a:t>
            </a:r>
            <a:r>
              <a:rPr lang="en-IN" dirty="0"/>
              <a:t>(Dense(32)))</a:t>
            </a:r>
          </a:p>
          <a:p>
            <a:pPr lvl="1"/>
            <a:r>
              <a:rPr lang="en-IN" dirty="0" err="1"/>
              <a:t>model.add</a:t>
            </a:r>
            <a:r>
              <a:rPr lang="en-IN" dirty="0"/>
              <a:t>(</a:t>
            </a:r>
            <a:r>
              <a:rPr lang="en-IN" dirty="0" err="1"/>
              <a:t>TimeDistributed</a:t>
            </a:r>
            <a:r>
              <a:rPr lang="en-IN" dirty="0"/>
              <a:t>(Dense(1, activation='sigmoid')))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314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46D67-AF2A-0B7C-31D3-BAF0FB5A2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SPEAKER CHANGE DETECTION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BDC03-BBA7-F7C7-D126-B0EFB2EE3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Training:</a:t>
            </a:r>
          </a:p>
          <a:p>
            <a:pPr lvl="1"/>
            <a:r>
              <a:rPr lang="en-US" dirty="0"/>
              <a:t>Frame-level speaker change labels</a:t>
            </a:r>
          </a:p>
          <a:p>
            <a:pPr lvl="1"/>
            <a:r>
              <a:rPr lang="en-US" dirty="0"/>
              <a:t>Output: Probability of speaker change at each frame</a:t>
            </a:r>
          </a:p>
          <a:p>
            <a:r>
              <a:rPr lang="en-US" dirty="0"/>
              <a:t>Inference:</a:t>
            </a:r>
          </a:p>
          <a:p>
            <a:pPr lvl="1"/>
            <a:r>
              <a:rPr lang="en-US" dirty="0"/>
              <a:t>Load pretrained bidirectional LSTM model</a:t>
            </a:r>
          </a:p>
          <a:p>
            <a:pPr lvl="1"/>
            <a:r>
              <a:rPr lang="en-US" dirty="0"/>
              <a:t>Apply to unseen audio</a:t>
            </a:r>
          </a:p>
          <a:p>
            <a:pPr lvl="1"/>
            <a:r>
              <a:rPr lang="en-US" dirty="0"/>
              <a:t>Localize speaker change points</a:t>
            </a:r>
          </a:p>
          <a:p>
            <a:pPr lvl="1"/>
            <a:r>
              <a:rPr lang="en-US" dirty="0"/>
              <a:t>Segment audio based on detected changes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ED13D5-D309-2CA0-216C-4EBACED86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514" y="3219685"/>
            <a:ext cx="4194286" cy="317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69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DB7D-88C4-FCA0-7764-0460E8734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EMBEDDING EXTRACTION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8CE93-CA97-AE57-2951-C46949268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8523"/>
            <a:ext cx="10515600" cy="5098440"/>
          </a:xfrm>
        </p:spPr>
        <p:txBody>
          <a:bodyPr>
            <a:normAutofit/>
          </a:bodyPr>
          <a:lstStyle/>
          <a:p>
            <a:r>
              <a:rPr lang="en-IN" dirty="0" err="1"/>
              <a:t>pyannote.audio</a:t>
            </a:r>
            <a:endParaRPr lang="en-IN" dirty="0"/>
          </a:p>
          <a:p>
            <a:pPr lvl="1"/>
            <a:r>
              <a:rPr lang="en-IN" dirty="0"/>
              <a:t>Open-source toolkit for speaker </a:t>
            </a:r>
            <a:r>
              <a:rPr lang="en-IN" dirty="0" err="1"/>
              <a:t>diarization</a:t>
            </a:r>
            <a:endParaRPr lang="en-IN" dirty="0"/>
          </a:p>
          <a:p>
            <a:pPr lvl="1"/>
            <a:r>
              <a:rPr lang="en-IN" dirty="0"/>
              <a:t>Pretrained neural embedding models</a:t>
            </a:r>
          </a:p>
          <a:p>
            <a:r>
              <a:rPr lang="en-IN" dirty="0"/>
              <a:t>Embedding Details:</a:t>
            </a:r>
          </a:p>
          <a:p>
            <a:pPr lvl="1"/>
            <a:r>
              <a:rPr lang="en-IN" dirty="0"/>
              <a:t>Dimension: 512-D speaker embeddings</a:t>
            </a:r>
          </a:p>
          <a:p>
            <a:pPr lvl="1"/>
            <a:r>
              <a:rPr lang="en-IN" dirty="0"/>
              <a:t>Notation: Eᵢ ∈ ℝ⁵¹²</a:t>
            </a:r>
          </a:p>
          <a:p>
            <a:pPr lvl="1"/>
            <a:r>
              <a:rPr lang="en-IN" dirty="0"/>
              <a:t>Extracted for each speech segment</a:t>
            </a:r>
          </a:p>
          <a:p>
            <a:r>
              <a:rPr lang="en-IN" dirty="0"/>
              <a:t>python</a:t>
            </a:r>
          </a:p>
          <a:p>
            <a:pPr lvl="1"/>
            <a:r>
              <a:rPr lang="en-IN" b="1" dirty="0"/>
              <a:t>from</a:t>
            </a:r>
            <a:r>
              <a:rPr lang="en-IN" dirty="0"/>
              <a:t> </a:t>
            </a:r>
            <a:r>
              <a:rPr lang="en-IN" dirty="0" err="1"/>
              <a:t>pyannote.audio</a:t>
            </a:r>
            <a:r>
              <a:rPr lang="en-IN" dirty="0"/>
              <a:t> </a:t>
            </a:r>
            <a:r>
              <a:rPr lang="en-IN" b="1" dirty="0"/>
              <a:t>import</a:t>
            </a:r>
            <a:r>
              <a:rPr lang="en-IN" dirty="0"/>
              <a:t> Inference</a:t>
            </a:r>
          </a:p>
          <a:p>
            <a:pPr lvl="1"/>
            <a:r>
              <a:rPr lang="en-IN" dirty="0"/>
              <a:t>embedding = </a:t>
            </a:r>
            <a:r>
              <a:rPr lang="en-IN" dirty="0" err="1"/>
              <a:t>inference.crop</a:t>
            </a:r>
            <a:r>
              <a:rPr lang="en-IN" dirty="0"/>
              <a:t>(</a:t>
            </a:r>
            <a:r>
              <a:rPr lang="en-IN" dirty="0" err="1"/>
              <a:t>file_dict</a:t>
            </a:r>
            <a:r>
              <a:rPr lang="en-IN" dirty="0"/>
              <a:t>, Segment(start, end))</a:t>
            </a:r>
          </a:p>
          <a:p>
            <a:r>
              <a:rPr lang="en-IN" dirty="0"/>
              <a:t>Purpose: Represent speaker characteristics for clustering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43904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6AA97-2127-22B0-D2B4-E98C4303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CLUSTERING ALGORITHMS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F06C7-4F9D-6107-6151-BA32F60FB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Two Approaches Compared: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EE52589-0737-BDE0-6117-D278EB3516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935608"/>
              </p:ext>
            </p:extLst>
          </p:nvPr>
        </p:nvGraphicFramePr>
        <p:xfrm>
          <a:off x="838200" y="2547815"/>
          <a:ext cx="10515600" cy="224596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1353912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2207074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48751578"/>
                    </a:ext>
                  </a:extLst>
                </a:gridCol>
              </a:tblGrid>
              <a:tr h="5614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Algorithm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K-Means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Mean Shift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7016960"/>
                  </a:ext>
                </a:extLst>
              </a:tr>
              <a:tr h="5614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Requires # speakers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Yes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No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8107309"/>
                  </a:ext>
                </a:extLst>
              </a:tr>
              <a:tr h="5614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Automatic speaker count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No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Yes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05064"/>
                  </a:ext>
                </a:extLst>
              </a:tr>
              <a:tr h="56149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Bandwidth parameter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No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Yes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91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10239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E9006-2B5B-61E2-CA08-B3F2748E4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MEAN SHIFT CLUSTERING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9C664-38FD-9246-EB65-A6ECD14046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Does NOT require number of speakers as input</a:t>
            </a:r>
          </a:p>
          <a:p>
            <a:pPr lvl="1"/>
            <a:r>
              <a:rPr lang="en-US" dirty="0"/>
              <a:t>Can automatically predict number of speakers</a:t>
            </a:r>
          </a:p>
          <a:p>
            <a:pPr lvl="1"/>
            <a:r>
              <a:rPr lang="en-US" dirty="0"/>
              <a:t>Non-parametric clustering</a:t>
            </a:r>
          </a:p>
          <a:p>
            <a:r>
              <a:rPr lang="en-US" dirty="0"/>
              <a:t>Results:</a:t>
            </a:r>
          </a:p>
          <a:p>
            <a:r>
              <a:rPr lang="en-US" dirty="0"/>
              <a:t>Clusters found: 3 (correctly identified)</a:t>
            </a:r>
          </a:p>
          <a:p>
            <a:r>
              <a:rPr lang="en-IN" dirty="0"/>
              <a:t>Predicted &amp; above is reference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AB63CD-FB45-CB45-C8C4-70F50784D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94" y="3212123"/>
            <a:ext cx="3880342" cy="27436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788D2A-C318-ED0D-7690-F0E52301A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92021"/>
            <a:ext cx="7061680" cy="12288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57D65A-B54F-9FC0-50FE-BCEFC39D0C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0271" y="1151531"/>
            <a:ext cx="7255083" cy="121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834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8D061-9FE7-8F0A-18F0-A7DA79EDF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K-MEANS CLUSTERING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631E4-7C75-947D-FF2C-1FAD311537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Characteristics:</a:t>
            </a:r>
          </a:p>
          <a:p>
            <a:pPr lvl="1"/>
            <a:r>
              <a:rPr lang="en-US" dirty="0"/>
              <a:t>Requires number of speakers (K) as prior knowledge</a:t>
            </a:r>
          </a:p>
          <a:p>
            <a:pPr lvl="1"/>
            <a:r>
              <a:rPr lang="en-US" dirty="0"/>
              <a:t>K = 3 for this experiment</a:t>
            </a:r>
          </a:p>
          <a:p>
            <a:pPr lvl="1"/>
            <a:r>
              <a:rPr lang="en-US" dirty="0"/>
              <a:t>Faster computation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2AA689-1B17-4010-CEC7-7D2D91AE00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1655" y="3033274"/>
            <a:ext cx="4725059" cy="31436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49AC33-B01A-EEAA-84FC-1400D64D87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665" y="4001294"/>
            <a:ext cx="7067552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29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254E5-8AC0-50BB-96D1-987C74CE4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F557-E213-2A04-38F1-472C9C02A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7CC27-ADF6-CF55-1C23-2E221059E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lvl="1"/>
            <a:r>
              <a:rPr lang="en-US" dirty="0" err="1"/>
              <a:t>Diarization</a:t>
            </a:r>
            <a:r>
              <a:rPr lang="en-US" dirty="0"/>
              <a:t> Error Rate (DER): Ratio of missed speech, false alarm, and speaker confusion to total time.</a:t>
            </a:r>
          </a:p>
          <a:p>
            <a:pPr marL="457200" lvl="1" indent="0">
              <a:buNone/>
            </a:pPr>
            <a:r>
              <a:rPr lang="en-US" dirty="0"/>
              <a:t>A perfectly aligned hypothesis and reference </a:t>
            </a:r>
            <a:r>
              <a:rPr lang="en-US" dirty="0" err="1"/>
              <a:t>diarization</a:t>
            </a:r>
            <a:r>
              <a:rPr lang="en-US" dirty="0"/>
              <a:t> would result in DER=0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198E38DB-4B62-FF6F-EADC-36268F8F4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245" y="5750036"/>
            <a:ext cx="5513278" cy="110796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F14BC4-851B-99D2-1155-360D262F95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306" y="3493927"/>
            <a:ext cx="5500941" cy="246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815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D940E-16EC-676E-8BFC-73642C838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EXPERIMENTAL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96F19B-0DAD-2E9A-A04D-9F04C8194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Comparison Table: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US" dirty="0"/>
              <a:t>Key Finding: K-Means achieves ~5% lower DER than Mean Shift</a:t>
            </a:r>
            <a:endParaRPr lang="en-IN" dirty="0"/>
          </a:p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5D5B481-EFC2-4E55-B0E4-E8E9F21FC8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40527"/>
              </p:ext>
            </p:extLst>
          </p:nvPr>
        </p:nvGraphicFramePr>
        <p:xfrm>
          <a:off x="838200" y="2399323"/>
          <a:ext cx="10515600" cy="259257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5244116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3746088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235048501"/>
                    </a:ext>
                  </a:extLst>
                </a:gridCol>
              </a:tblGrid>
              <a:tr h="5185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Metric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Mean Shift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effectLst/>
                        </a:rPr>
                        <a:t>K-Means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981803"/>
                  </a:ext>
                </a:extLst>
              </a:tr>
              <a:tr h="5185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Confusion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65.37 sec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51.77 sec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558108"/>
                  </a:ext>
                </a:extLst>
              </a:tr>
              <a:tr h="5185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False Alarm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7.62 sec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7.62 sec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744278"/>
                  </a:ext>
                </a:extLst>
              </a:tr>
              <a:tr h="5185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Missed Detection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1.40 sec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1.40 sec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3675643"/>
                  </a:ext>
                </a:extLst>
              </a:tr>
              <a:tr h="51851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DER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25.64%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20.95%</a:t>
                      </a:r>
                    </a:p>
                  </a:txBody>
                  <a:tcPr marL="60960" marR="60960" marT="60960" marB="60960" anchor="ctr">
                    <a:lnL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53843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03844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75ACE-98FF-4D48-99F3-F2398A06C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ANALYSIS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AD0FB-D968-67A4-7D56-DAA1DF384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Observations:</a:t>
            </a:r>
          </a:p>
          <a:p>
            <a:pPr lvl="1"/>
            <a:r>
              <a:rPr lang="en-US" dirty="0"/>
              <a:t> K-Means performed better (DER: 20.95%)</a:t>
            </a:r>
          </a:p>
          <a:p>
            <a:pPr lvl="1"/>
            <a:r>
              <a:rPr lang="en-US" dirty="0"/>
              <a:t>Lower speaker confusion errors (51.77s vs 65.37s)</a:t>
            </a:r>
          </a:p>
          <a:p>
            <a:r>
              <a:rPr lang="en-US" dirty="0"/>
              <a:t> Mean Shift advantage</a:t>
            </a:r>
          </a:p>
          <a:p>
            <a:pPr lvl="1"/>
            <a:r>
              <a:rPr lang="en-US" dirty="0"/>
              <a:t>Automatically detected 3 speakers without prior knowledge</a:t>
            </a:r>
          </a:p>
          <a:p>
            <a:pPr lvl="1"/>
            <a:r>
              <a:rPr lang="en-US" dirty="0"/>
              <a:t>Useful when speaker count is unknown</a:t>
            </a:r>
          </a:p>
          <a:p>
            <a:r>
              <a:rPr lang="en-US" dirty="0"/>
              <a:t>Both methods</a:t>
            </a:r>
          </a:p>
          <a:p>
            <a:pPr lvl="1"/>
            <a:r>
              <a:rPr lang="en-US" dirty="0"/>
              <a:t>Similar false alarm rates (7.62s)</a:t>
            </a:r>
          </a:p>
          <a:p>
            <a:pPr lvl="1"/>
            <a:r>
              <a:rPr lang="en-US" dirty="0"/>
              <a:t>Similar missed detection (1.40s)</a:t>
            </a:r>
          </a:p>
          <a:p>
            <a:pPr lvl="1"/>
            <a:r>
              <a:rPr lang="en-US" dirty="0"/>
              <a:t>Main difference in confusion errors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9860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C2DB6-8EA9-C6CC-69C3-6220D7913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 CHALLENGES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F389D-53B8-BBE5-5A29-A48B55625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Accurate handling of overlapping speech</a:t>
            </a:r>
          </a:p>
          <a:p>
            <a:pPr lvl="1"/>
            <a:r>
              <a:rPr lang="en-US" dirty="0"/>
              <a:t>Multiple speakers speaking simultaneously</a:t>
            </a:r>
          </a:p>
          <a:p>
            <a:r>
              <a:rPr lang="en-US" dirty="0"/>
              <a:t>Robustness in low-resource/noisy environments</a:t>
            </a:r>
          </a:p>
          <a:p>
            <a:pPr lvl="1"/>
            <a:r>
              <a:rPr lang="en-US" dirty="0"/>
              <a:t>Background noise affects performance</a:t>
            </a:r>
          </a:p>
          <a:p>
            <a:r>
              <a:rPr lang="en-US" dirty="0"/>
              <a:t>Scalability to long recordings and large datasets</a:t>
            </a:r>
          </a:p>
          <a:p>
            <a:pPr lvl="1"/>
            <a:r>
              <a:rPr lang="en-US" dirty="0"/>
              <a:t>Computational efficiency for real-world deployment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9535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EA8A8-89B3-0D61-9FD4-69FD260D2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5">
            <a:extLst>
              <a:ext uri="{FF2B5EF4-FFF2-40B4-BE49-F238E27FC236}">
                <a16:creationId xmlns:a16="http://schemas.microsoft.com/office/drawing/2014/main" id="{6386A78E-897E-9CF6-86F8-33FC0A0DD6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555019" y="1347540"/>
            <a:ext cx="4822703" cy="4162920"/>
          </a:xfrm>
        </p:spPr>
      </p:pic>
    </p:spTree>
    <p:extLst>
      <p:ext uri="{BB962C8B-B14F-4D97-AF65-F5344CB8AC3E}">
        <p14:creationId xmlns:p14="http://schemas.microsoft.com/office/powerpoint/2010/main" val="21872235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1939</TotalTime>
  <Words>721</Words>
  <Application>Microsoft Office PowerPoint</Application>
  <PresentationFormat>Widescreen</PresentationFormat>
  <Paragraphs>179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Speaker Diarization(BTP1)</vt:lpstr>
      <vt:lpstr>OUTLINE</vt:lpstr>
      <vt:lpstr>INTRODUCTION</vt:lpstr>
      <vt:lpstr>DATASET</vt:lpstr>
      <vt:lpstr> SYSTEM ARCHITECTURE / PIPELINE</vt:lpstr>
      <vt:lpstr>PREPROCESSING &amp; VAD </vt:lpstr>
      <vt:lpstr>SPEAKER CHANGE DETECTION </vt:lpstr>
      <vt:lpstr>SPEAKER CHANGE DETECTION </vt:lpstr>
      <vt:lpstr> EMBEDDING EXTRACTION </vt:lpstr>
      <vt:lpstr>CLUSTERING ALGORITHMS </vt:lpstr>
      <vt:lpstr>MEAN SHIFT CLUSTERING </vt:lpstr>
      <vt:lpstr>K-MEANS CLUSTERING </vt:lpstr>
      <vt:lpstr>EVALUATION METRICS</vt:lpstr>
      <vt:lpstr>EXPERIMENTAL RESULTS</vt:lpstr>
      <vt:lpstr>RESULTS ANALYSIS </vt:lpstr>
      <vt:lpstr> CHALLENGES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Abhimanyu Kumar</dc:creator>
  <cp:lastModifiedBy>Abhimanyu Kumar</cp:lastModifiedBy>
  <cp:revision>9</cp:revision>
  <dcterms:created xsi:type="dcterms:W3CDTF">2023-01-08T10:33:35Z</dcterms:created>
  <dcterms:modified xsi:type="dcterms:W3CDTF">2025-11-27T17:54:44Z</dcterms:modified>
</cp:coreProperties>
</file>